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4A6B"/>
              </a:solidFill>
              <a:effectLst/>
            </c:spPr>
          </c:dPt>
          <c:dPt>
            <c:idx val="1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bubble3D val="0"/>
            <c:spPr>
              <a:solidFill>
                <a:srgbClr val="E94F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3F6F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3F6F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3F6F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On-site</c:v>
                </c:pt>
                <c:pt idx="1">
                  <c:v>Hybrid</c:v>
                </c:pt>
                <c:pt idx="2">
                  <c:v>Remote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18701</c:v>
                </c:pt>
                <c:pt idx="1">
                  <c:v>2347</c:v>
                </c:pt>
                <c:pt idx="2">
                  <c:v>2153</c:v>
                </c:pt>
              </c:numCache>
            </c:numRef>
          </c:val>
        </c:ser>
        <c:firstSliceAng val="0"/>
      </c:pieChart>
      <c:spPr>
        <a:solidFill>
          <a:srgbClr val="0B12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AA6B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Count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3F6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Gurgaon</c:v>
                  </c:pt>
                  <c:pt idx="1">
                    <c:v>Noida</c:v>
                  </c:pt>
                  <c:pt idx="2">
                    <c:v>Pune</c:v>
                  </c:pt>
                  <c:pt idx="3">
                    <c:v>Chennai</c:v>
                  </c:pt>
                  <c:pt idx="4">
                    <c:v>Bangalore</c:v>
                  </c:pt>
                  <c:pt idx="5">
                    <c:v>Mumbai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2210</c:v>
                </c:pt>
                <c:pt idx="1">
                  <c:v>2585</c:v>
                </c:pt>
                <c:pt idx="2">
                  <c:v>2606</c:v>
                </c:pt>
                <c:pt idx="3">
                  <c:v>2666</c:v>
                </c:pt>
                <c:pt idx="4">
                  <c:v>2830</c:v>
                </c:pt>
                <c:pt idx="5">
                  <c:v>3276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3F6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 (LPA)</c:v>
                </c:pt>
              </c:strCache>
            </c:strRef>
          </c:tx>
          <c:spPr>
            <a:solidFill>
              <a:srgbClr val="E94F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3F6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Data Analyst</c:v>
                  </c:pt>
                  <c:pt idx="1">
                    <c:v>Business Analyst</c:v>
                  </c:pt>
                  <c:pt idx="2">
                    <c:v>Python Developer</c:v>
                  </c:pt>
                  <c:pt idx="3">
                    <c:v>ML Engineer</c:v>
                  </c:pt>
                  <c:pt idx="4">
                    <c:v>Data Engineer</c:v>
                  </c:pt>
                  <c:pt idx="5">
                    <c:v>Data Scientist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10.6</c:v>
                </c:pt>
                <c:pt idx="1">
                  <c:v>14.1</c:v>
                </c:pt>
                <c:pt idx="2">
                  <c:v>15.7</c:v>
                </c:pt>
                <c:pt idx="3">
                  <c:v>16.3</c:v>
                </c:pt>
                <c:pt idx="4">
                  <c:v>17.8</c:v>
                </c:pt>
                <c:pt idx="5">
                  <c:v>18.6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3F6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274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AA6BF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9AA6BF"/>
                    </a:solidFill>
                    <a:latin typeface="Arial"/>
                  </a:rPr>
                  <a:t>LPA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 (LPA)</c:v>
                </c:pt>
              </c:strCache>
            </c:strRef>
          </c:tx>
          <c:spPr>
            <a:solidFill>
              <a:srgbClr val="22D3EE"/>
            </a:solidFill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3F6F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Fresher</c:v>
                  </c:pt>
                  <c:pt idx="1">
                    <c:v>Junior (0-2 Yrs)</c:v>
                  </c:pt>
                  <c:pt idx="2">
                    <c:v>Mid (3-5 Yrs)</c:v>
                  </c:pt>
                  <c:pt idx="3">
                    <c:v>Senior (6-8 Yrs)</c:v>
                  </c:pt>
                  <c:pt idx="4">
                    <c:v>Lead/Architect (9+ Yrs)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9.6</c:v>
                </c:pt>
                <c:pt idx="1">
                  <c:v>7</c:v>
                </c:pt>
                <c:pt idx="2">
                  <c:v>14.4</c:v>
                </c:pt>
                <c:pt idx="3">
                  <c:v>20.3</c:v>
                </c:pt>
                <c:pt idx="4">
                  <c:v>28.1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3F6F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74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AA6BF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9AA6BF"/>
                    </a:solidFill>
                    <a:latin typeface="Arial"/>
                  </a:rPr>
                  <a:t>LPA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Fresher-Friendly Jobs</c:v>
                </c:pt>
              </c:strCache>
            </c:strRef>
          </c:tx>
          <c:spPr>
            <a:solidFill>
              <a:srgbClr val="E94F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3F6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Cloud &amp; DevOps</c:v>
                  </c:pt>
                  <c:pt idx="1">
                    <c:v>Data Engineering</c:v>
                  </c:pt>
                  <c:pt idx="2">
                    <c:v>Data Science</c:v>
                  </c:pt>
                  <c:pt idx="3">
                    <c:v>AI/ML/DL</c:v>
                  </c:pt>
                  <c:pt idx="4">
                    <c:v>Business Intelligence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169</c:v>
                </c:pt>
                <c:pt idx="1">
                  <c:v>170</c:v>
                </c:pt>
                <c:pt idx="2">
                  <c:v>285</c:v>
                </c:pt>
                <c:pt idx="3">
                  <c:v>1187</c:v>
                </c:pt>
                <c:pt idx="4">
                  <c:v>2371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3F6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3F6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Power BI</c:v>
                  </c:pt>
                  <c:pt idx="1">
                    <c:v>Java</c:v>
                  </c:pt>
                  <c:pt idx="2">
                    <c:v>Machine Learning</c:v>
                  </c:pt>
                  <c:pt idx="3">
                    <c:v>Data Analysis</c:v>
                  </c:pt>
                  <c:pt idx="4">
                    <c:v>Python</c:v>
                  </c:pt>
                  <c:pt idx="5">
                    <c:v>SQL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1106</c:v>
                </c:pt>
                <c:pt idx="1">
                  <c:v>1404</c:v>
                </c:pt>
                <c:pt idx="2">
                  <c:v>3558</c:v>
                </c:pt>
                <c:pt idx="3">
                  <c:v>3796</c:v>
                </c:pt>
                <c:pt idx="4">
                  <c:v>4351</c:v>
                </c:pt>
                <c:pt idx="5">
                  <c:v>4410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3F6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Postings</c:v>
                </c:pt>
              </c:strCache>
            </c:strRef>
          </c:tx>
          <c:spPr>
            <a:solidFill>
              <a:srgbClr val="E94F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TCS</c:v>
                  </c:pt>
                  <c:pt idx="1">
                    <c:v>Accenture</c:v>
                  </c:pt>
                  <c:pt idx="2">
                    <c:v>EY</c:v>
                  </c:pt>
                  <c:pt idx="3">
                    <c:v>Leading Client</c:v>
                  </c:pt>
                  <c:pt idx="4">
                    <c:v>Infosys</c:v>
                  </c:pt>
                  <c:pt idx="5">
                    <c:v>Capgemini</c:v>
                  </c:pt>
                  <c:pt idx="6">
                    <c:v>Photon</c:v>
                  </c:pt>
                  <c:pt idx="7">
                    <c:v>Logic Planet</c:v>
                  </c:pt>
                  <c:pt idx="8">
                    <c:v>Hexaware</c:v>
                  </c:pt>
                  <c:pt idx="9">
                    <c:v>Sparix Global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653</c:v>
                </c:pt>
                <c:pt idx="1">
                  <c:v>438</c:v>
                </c:pt>
                <c:pt idx="2">
                  <c:v>340</c:v>
                </c:pt>
                <c:pt idx="3">
                  <c:v>243</c:v>
                </c:pt>
                <c:pt idx="4">
                  <c:v>209</c:v>
                </c:pt>
                <c:pt idx="5">
                  <c:v>195</c:v>
                </c:pt>
                <c:pt idx="6">
                  <c:v>193</c:v>
                </c:pt>
                <c:pt idx="7">
                  <c:v>185</c:v>
                </c:pt>
                <c:pt idx="8">
                  <c:v>147</c:v>
                </c:pt>
                <c:pt idx="9">
                  <c:v>126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Jobs Posted</c:v>
                </c:pt>
              </c:strCache>
            </c:strRef>
          </c:tx>
          <c:spPr>
            <a:solidFill>
              <a:srgbClr val="22D3EE"/>
            </a:solidFill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3F6F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 5</c:v>
                  </c:pt>
                  <c:pt idx="5">
                    <c:v>Week 13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3577</c:v>
                </c:pt>
                <c:pt idx="1">
                  <c:v>3021</c:v>
                </c:pt>
                <c:pt idx="2">
                  <c:v>2642</c:v>
                </c:pt>
                <c:pt idx="3">
                  <c:v>13622</c:v>
                </c:pt>
                <c:pt idx="4">
                  <c:v>335</c:v>
                </c:pt>
                <c:pt idx="5">
                  <c:v>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3F6F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6314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E94FD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371600"/>
            <a:ext cx="914400" cy="9144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6732" y="159105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06040"/>
            <a:ext cx="12188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TECH JOB MARKET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246120"/>
            <a:ext cx="12188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2026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0" y="40690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Excel Analytics Project  •  23,201 Job Listings Analyzed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Ishika Verma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AT A GLANCE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141B2E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23,201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Jobs Analyzed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141B2E"/>
          </a:solidFill>
          <a:ln w="19050">
            <a:solidFill>
              <a:srgbClr val="E94F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34340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9.28%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343400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Job Share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38160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141B2E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3816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138160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+ Fresher Jobs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886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141B2E"/>
          </a:solidFill>
          <a:ln w="19050">
            <a:solidFill>
              <a:srgbClr val="E94F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" y="4206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₹9.62 LPA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548640" y="5120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Fresher Salary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343400" y="3886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141B2E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343400" y="4206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4343400" y="5120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Hiring City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138160" y="3886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141B2E"/>
          </a:solidFill>
          <a:ln w="19050">
            <a:solidFill>
              <a:srgbClr val="E94F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138160" y="4206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8138160" y="5120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In-Demand Skill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94F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 DISTRIBUTION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Remote Work Reality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60350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858000" y="1600200"/>
            <a:ext cx="4800600" cy="4663440"/>
          </a:xfrm>
          <a:prstGeom prst="roundRect">
            <a:avLst>
              <a:gd name="adj" fmla="val 1569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059168" y="1819656"/>
            <a:ext cx="320040" cy="54864"/>
          </a:xfrm>
          <a:prstGeom prst="rect">
            <a:avLst/>
          </a:prstGeom>
          <a:solidFill>
            <a:srgbClr val="E94FD8"/>
          </a:solidFill>
          <a:ln/>
        </p:spPr>
      </p:sp>
      <p:sp>
        <p:nvSpPr>
          <p:cNvPr id="9" name="Text 5"/>
          <p:cNvSpPr/>
          <p:nvPr/>
        </p:nvSpPr>
        <p:spPr>
          <a:xfrm>
            <a:off x="7059168" y="1929384"/>
            <a:ext cx="4398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9.28% of jobs are Remote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059168" y="2386584"/>
            <a:ext cx="43982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23,201 tech job listings analyzed, 18,701 (81%) are strictly On-site, while Hybrid and Remote together make up less than a fifth of the market.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remote roles are genuinely scarce in India's tech hiring landscape — a highly selective job search strategy is essential for remote-only candidates.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JOBS ARE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Hiring Cities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6675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600200"/>
            <a:ext cx="4160520" cy="4663440"/>
          </a:xfrm>
          <a:prstGeom prst="roundRect">
            <a:avLst>
              <a:gd name="adj" fmla="val 1758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699248" y="1819656"/>
            <a:ext cx="3200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5"/>
          <p:cNvSpPr/>
          <p:nvPr/>
        </p:nvSpPr>
        <p:spPr>
          <a:xfrm>
            <a:off x="7699248" y="1929384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leads the market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699248" y="2386584"/>
            <a:ext cx="37581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tops the list with 3,276 postings, closely followed by Bangalore and Chennai.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6 cities together account for over 16,000 jobs — more than two-thirds of all listings — showing hiring is concentrated in a handful of metro hubs.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94F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PACKAGE (DISCLOSED LISTINGS)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by Role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6675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600200"/>
            <a:ext cx="4160520" cy="4663440"/>
          </a:xfrm>
          <a:prstGeom prst="roundRect">
            <a:avLst>
              <a:gd name="adj" fmla="val 1758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699248" y="1819656"/>
            <a:ext cx="320040" cy="54864"/>
          </a:xfrm>
          <a:prstGeom prst="rect">
            <a:avLst/>
          </a:prstGeom>
          <a:solidFill>
            <a:srgbClr val="E94FD8"/>
          </a:solidFill>
          <a:ln/>
        </p:spPr>
      </p:sp>
      <p:sp>
        <p:nvSpPr>
          <p:cNvPr id="9" name="Text 5"/>
          <p:cNvSpPr/>
          <p:nvPr/>
        </p:nvSpPr>
        <p:spPr>
          <a:xfrm>
            <a:off x="7699248" y="1929384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pays the most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699248" y="2386584"/>
            <a:ext cx="37581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roles average ₹18.6 LPA, nearly double the Data Analyst average of ₹10.6 LPA.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highlights a clear upskilling path — moving from Analyst toward Data Science / ML skill sets significantly raises earning potential.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BY EXPERIENCE LEVEL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Career Growth Curve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600200"/>
            <a:ext cx="3977640" cy="4663440"/>
          </a:xfrm>
          <a:prstGeom prst="roundRect">
            <a:avLst>
              <a:gd name="adj" fmla="val 1839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882128" y="1819656"/>
            <a:ext cx="3200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5"/>
          <p:cNvSpPr/>
          <p:nvPr/>
        </p:nvSpPr>
        <p:spPr>
          <a:xfrm>
            <a:off x="7882128" y="1929384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triples from Fresher to Lead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882128" y="2386584"/>
            <a:ext cx="357530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pay grows from ~₹9.6 LPA at Fresher level to ₹28.1 LPA at Lead/Architect level — a near 3x increase.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dip at Junior (0-2 Yrs) likely reflects a smaller disclosed-salary sample in that band rather than an actual pay cut.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94F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ENTRY-LEVEL TALENT IS WELCOMED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Fresher-Friendly Skill Domains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6675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600200"/>
            <a:ext cx="4160520" cy="4663440"/>
          </a:xfrm>
          <a:prstGeom prst="roundRect">
            <a:avLst>
              <a:gd name="adj" fmla="val 1758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699248" y="1819656"/>
            <a:ext cx="320040" cy="54864"/>
          </a:xfrm>
          <a:prstGeom prst="rect">
            <a:avLst/>
          </a:prstGeom>
          <a:solidFill>
            <a:srgbClr val="E94FD8"/>
          </a:solidFill>
          <a:ln/>
        </p:spPr>
      </p:sp>
      <p:sp>
        <p:nvSpPr>
          <p:cNvPr id="9" name="Text 5"/>
          <p:cNvSpPr/>
          <p:nvPr/>
        </p:nvSpPr>
        <p:spPr>
          <a:xfrm>
            <a:off x="7699248" y="1929384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leads by far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699248" y="2386584"/>
            <a:ext cx="37581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2,371 fresher-friendly jobs fall under Business Intelligence — 2x more than AI/ML/DL, the next closest domain.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skills like Power BI, DAX, and Excel directly open the most entry-level doors in today's market.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MENTIONED ACROSS JOB LISTINGS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In-Demand Skills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6675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600200"/>
            <a:ext cx="4160520" cy="4663440"/>
          </a:xfrm>
          <a:prstGeom prst="roundRect">
            <a:avLst>
              <a:gd name="adj" fmla="val 1758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699248" y="1819656"/>
            <a:ext cx="3200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5"/>
          <p:cNvSpPr/>
          <p:nvPr/>
        </p:nvSpPr>
        <p:spPr>
          <a:xfrm>
            <a:off x="7699248" y="1929384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edges out Python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699248" y="2386584"/>
            <a:ext cx="37581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appears in 4,410 listings, just ahead of Python at 4,351 — reinforcing SQL as a non-negotiable core skill for any analytics role.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and Machine Learning also rank high, showing employers value applied analytical thinking as much as specific tools.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94F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POSTING THE MOST JOBS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Hiring Companies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600200"/>
            <a:ext cx="3977640" cy="4663440"/>
          </a:xfrm>
          <a:prstGeom prst="roundRect">
            <a:avLst>
              <a:gd name="adj" fmla="val 1839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882128" y="1819656"/>
            <a:ext cx="320040" cy="54864"/>
          </a:xfrm>
          <a:prstGeom prst="rect">
            <a:avLst/>
          </a:prstGeom>
          <a:solidFill>
            <a:srgbClr val="E94FD8"/>
          </a:solidFill>
          <a:ln/>
        </p:spPr>
      </p:sp>
      <p:sp>
        <p:nvSpPr>
          <p:cNvPr id="9" name="Text 5"/>
          <p:cNvSpPr/>
          <p:nvPr/>
        </p:nvSpPr>
        <p:spPr>
          <a:xfrm>
            <a:off x="7882128" y="1929384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 giants dominate hiring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882128" y="2386584"/>
            <a:ext cx="357530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leads with 653 postings — nearly 50% more than Accenture, the next highest.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IT services firms (TCS, Accenture, EY, Infosys, Capgemini) account for the bulk of top-10 hiring activity.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OVER TIME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Hiring Trend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600200"/>
            <a:ext cx="3977640" cy="4663440"/>
          </a:xfrm>
          <a:prstGeom prst="roundRect">
            <a:avLst>
              <a:gd name="adj" fmla="val 1839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882128" y="1819656"/>
            <a:ext cx="32004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5"/>
          <p:cNvSpPr/>
          <p:nvPr/>
        </p:nvSpPr>
        <p:spPr>
          <a:xfrm>
            <a:off x="7882128" y="1929384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hiring spike in Week 4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882128" y="2386584"/>
            <a:ext cx="357530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surge to 13,622 in Week 4 — far above the steady 2,500-3,600 range of the prior three weeks.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spike likely reflects a bulk data refresh or a seasonal hiring wave, and is worth watching when timing job applications.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E94FD8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94F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8016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 Used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Structured Tables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Pivot Tables across salary, location, skills &amp; time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Formulas: XLOOKUP, AVERAGEIFS, COUNTIFS, wildcard COUNTIF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Dropdowns with Data Validation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 Slicers across multiple pivots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designed interactive KPI Dashboard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6203A"/>
          </a:solidFill>
          <a:ln w="19050">
            <a:solidFill>
              <a:srgbClr val="E94F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83680" y="233172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428 out of 23,201 listings are genuinely Remote + Fresher-friendly. This project turns that hard reality into a clear, data-backed strategy: target Business Intelligence roles, lead with SQL and Python, and benchmark fresher offers against the ₹9.62 LPA market average.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Excel — from raw data to an interactive, decision-ready dashboard.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Tech Job Market Analysis 2026</dc:title>
  <dc:subject>PptxGenJS Presentation</dc:subject>
  <dc:creator>Ishika Verma</dc:creator>
  <cp:lastModifiedBy>Ishika Verma</cp:lastModifiedBy>
  <cp:revision>1</cp:revision>
  <dcterms:created xsi:type="dcterms:W3CDTF">2026-07-06T03:06:19Z</dcterms:created>
  <dcterms:modified xsi:type="dcterms:W3CDTF">2026-07-06T03:06:19Z</dcterms:modified>
</cp:coreProperties>
</file>